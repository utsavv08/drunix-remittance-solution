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9319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24128"/>
            <a:ext cx="1280160" cy="1280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14600" y="960120"/>
            <a:ext cx="18288" cy="685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pc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051560"/>
            <a:ext cx="1783080" cy="553663"/>
          </a:xfrm>
          <a:prstGeom prst="rect">
            <a:avLst/>
          </a:prstGeom>
        </p:spPr>
      </p:pic>
      <p:pic>
        <p:nvPicPr>
          <p:cNvPr id="8" name="Picture 7" descr="npci_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22960"/>
            <a:ext cx="2103120" cy="653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CitiFlow Escrow</a:t>
            </a:r>
          </a:p>
          <a:p>
            <a:pPr>
              <a:spcBef>
                <a:spcPts val="1200"/>
              </a:spcBef>
              <a:defRPr sz="2100" b="1">
                <a:solidFill>
                  <a:srgbClr val="93C5FD"/>
                </a:solidFill>
              </a:defRPr>
            </a:pPr>
            <a:r>
              <a:t>Programmable Real-Time Milestone Trade Finance &amp; Cross-Border Delivery vs. Payment (DvP)</a:t>
            </a:r>
          </a:p>
          <a:p>
            <a:pPr>
              <a:spcBef>
                <a:spcPts val="1000"/>
              </a:spcBef>
              <a:defRPr sz="1450">
                <a:solidFill>
                  <a:srgbClr val="E2E8F0"/>
                </a:solidFill>
              </a:defRPr>
            </a:pPr>
            <a:r>
              <a:t>Bridging Citibank Global Treasury Infrastructure &amp; Live FX with NPCI Sovereign Real-Time Rails on Drunix L1 Blockchain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40680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2D72"/>
                </a:solidFill>
              </a:defRPr>
            </a:pPr>
            <a:r>
              <a:t>Drunix Hackathon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5440680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2D72"/>
                </a:solidFill>
              </a:defRPr>
            </a:pPr>
            <a:r>
              <a:t>Challenge CHL-7007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9783" y="5440680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2D72"/>
                </a:solidFill>
              </a:defRPr>
            </a:pPr>
            <a:r>
              <a:t>ISO 20022 pacs.008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5440680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2D72"/>
                </a:solidFill>
              </a:defRPr>
            </a:pPr>
            <a:r>
              <a:t>NPCI UPI 2.0 &amp; e-RUPI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82328" y="5440680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2D72"/>
                </a:solidFill>
              </a:defRPr>
            </a:pPr>
            <a:r>
              <a:t>ERC-721 RWA DvP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6DAE"/>
                </a:solidFill>
              </a:defRPr>
            </a:pPr>
            <a:r>
              <a:t>CITIFLOW ESCROW | INSTITUTIONAL TRADE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2D72"/>
                </a:solidFill>
              </a:defRPr>
            </a:pPr>
            <a:r>
              <a:t>The Problem: The $2.5 Trillion Global Trade Trust &amp; Working Capital Trap</a:t>
            </a:r>
          </a:p>
        </p:txBody>
      </p:sp>
      <p:pic>
        <p:nvPicPr>
          <p:cNvPr id="6" name="Picture 5" descr="ci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92608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1325880"/>
            <a:ext cx="5257800" cy="221284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90472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🚨 Counterparty Default &amp; Mistrust</a:t>
            </a:r>
          </a:p>
          <a:p>
            <a:pPr>
              <a:spcBef>
                <a:spcPts val="300"/>
              </a:spcBef>
              <a:defRPr sz="1100" b="1">
                <a:solidFill>
                  <a:srgbClr val="EF4444"/>
                </a:solidFill>
              </a:defRPr>
            </a:pPr>
            <a:r>
              <a:t>Metric: $2.5 Trillion Unmet SME Trade Demand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Exporters refuse to begin manufacturing high-value goods without advance payments; importers fear paying upfront without verified quality, bills of lading, and customs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57800" cy="2212848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90472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⏳ Trapped Liquidity in Legacy LCs</a:t>
            </a:r>
          </a:p>
          <a:p>
            <a:pPr>
              <a:spcBef>
                <a:spcPts val="300"/>
              </a:spcBef>
              <a:defRPr sz="1100" b="1">
                <a:solidFill>
                  <a:srgbClr val="F59E0B"/>
                </a:solidFill>
              </a:defRPr>
            </a:pPr>
            <a:r>
              <a:t>Metric: 14 to 28 Days Processing &amp; 2% - 4% Fees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Traditional Letters of Credit (LCs) lock up enterprise working capital for weeks, incur heavy bank intermediation fees, and rely on cumbersome manual paper documentation.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49039"/>
            <a:ext cx="5257800" cy="221284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1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🔗 Siloed Payment &amp; Logistics Telemetry</a:t>
            </a:r>
          </a:p>
          <a:p>
            <a:pPr>
              <a:spcBef>
                <a:spcPts val="300"/>
              </a:spcBef>
              <a:defRPr sz="1100" b="1">
                <a:solidFill>
                  <a:srgbClr val="3B82F6"/>
                </a:solidFill>
              </a:defRPr>
            </a:pPr>
            <a:r>
              <a:t>Metric: Zero Real-Time Cross-Rail Connectivity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Domestic real-time payment rails (UPI) and global SWIFT corridors do not natively connect to supply chain events (ICEGATE Customs, shipping container AIS, IoT temperature sensors).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39"/>
            <a:ext cx="5257800" cy="2212848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13631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📄 Absence of Delivery vs. Payment (DvP)</a:t>
            </a:r>
          </a:p>
          <a:p>
            <a:pPr>
              <a:spcBef>
                <a:spcPts val="300"/>
              </a:spcBef>
              <a:defRPr sz="1100" b="1">
                <a:solidFill>
                  <a:srgbClr val="8B5CF6"/>
                </a:solidFill>
              </a:defRPr>
            </a:pPr>
            <a:r>
              <a:t>Metric: Physical Paper Courier &amp; Duplicate Financing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Cargo ownership titles (Bills of Lading) are physically couriered separately from payments, creating reconciliation delays, duplicate invoice financing, and title fraud.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6DAE"/>
                </a:solidFill>
              </a:defRPr>
            </a:pPr>
            <a:r>
              <a:t>CITIFLOW ESCROW | INSTITUTIONAL TRADE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2D72"/>
                </a:solidFill>
              </a:defRPr>
            </a:pPr>
            <a:r>
              <a:t>The Solution: Unified Programmable Trade Settlement on Drunix L1</a:t>
            </a:r>
          </a:p>
        </p:txBody>
      </p:sp>
      <p:pic>
        <p:nvPicPr>
          <p:cNvPr id="6" name="Picture 5" descr="ci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92608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1353312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53312"/>
            <a:ext cx="2560320" cy="914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81912"/>
            <a:ext cx="223113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🔒 Smart Escrow Vault</a:t>
            </a:r>
          </a:p>
          <a:p>
            <a:pPr>
              <a:spcBef>
                <a:spcPts val="400"/>
              </a:spcBef>
              <a:defRPr sz="1100" b="1">
                <a:solidFill>
                  <a:srgbClr val="002D72"/>
                </a:solidFill>
              </a:defRPr>
            </a:pPr>
            <a:r>
              <a:t>TradeEscrow.sol on Drunix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Programmable tranche logic that locks capital upfront and releases tranches automatically upon multi-sig cryptographic oracle proofs rather than all-or-nothing payouts.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53312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6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353312"/>
            <a:ext cx="2560320" cy="91440"/>
          </a:xfrm>
          <a:prstGeom prst="rect">
            <a:avLst/>
          </a:prstGeom>
          <a:solidFill>
            <a:srgbClr val="05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581912"/>
            <a:ext cx="223113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📦 Tokenized RWA (e-BL)</a:t>
            </a:r>
          </a:p>
          <a:p>
            <a:pPr>
              <a:spcBef>
                <a:spcPts val="400"/>
              </a:spcBef>
              <a:defRPr sz="1100" b="1">
                <a:solidFill>
                  <a:srgbClr val="056DAE"/>
                </a:solidFill>
              </a:defRPr>
            </a:pPr>
            <a:r>
              <a:t>ERC-721 Digital Title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Physical cargo consignment is minted on-chain as a digital Bill of Lading, securely locked in smart escrow, and transferred atomically upon payment completion (DvP).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53312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53312"/>
            <a:ext cx="256032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581912"/>
            <a:ext cx="223113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📡 Real-Time Oracles</a:t>
            </a:r>
          </a:p>
          <a:p>
            <a:pPr>
              <a:spcBef>
                <a:spcPts val="400"/>
              </a:spcBef>
              <a:defRPr sz="1100" b="1">
                <a:solidFill>
                  <a:srgbClr val="059669"/>
                </a:solidFill>
              </a:defRPr>
            </a:pPr>
            <a:r>
              <a:t>ICEGATE &amp; Telemetry Feeds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Direct automated cryptographic attestation of TÜV SÜD factory inspection, MSC shipping carrier vessel GPS, and Indian Customs ICEGATE Out-of-Charge (OOC).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53312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353312"/>
            <a:ext cx="25603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1581912"/>
            <a:ext cx="223113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🏦 Dual Settlement Rails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Citi ISO 20022 + NPCI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Institutional cross-border wires via pacs.008 XML &amp; live Spot FX hedging combined with 1-click sovereign UPI 2.0 &amp; purpose-bound e-RUPI vouchers.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6DAE"/>
                </a:solidFill>
              </a:defRPr>
            </a:pPr>
            <a:r>
              <a:t>CITIFLOW ESCROW | INSTITUTIONAL TRADE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2D72"/>
                </a:solidFill>
              </a:defRPr>
            </a:pPr>
            <a:r>
              <a:t>4-Stage Programmable Milestone &amp; DvP Execution Lifecycle</a:t>
            </a:r>
          </a:p>
        </p:txBody>
      </p:sp>
      <p:pic>
        <p:nvPicPr>
          <p:cNvPr id="6" name="Picture 5" descr="ci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92608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1353312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6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554480"/>
            <a:ext cx="530352" cy="530352"/>
          </a:xfrm>
          <a:prstGeom prst="ellipse">
            <a:avLst/>
          </a:prstGeom>
          <a:solidFill>
            <a:srgbClr val="05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76272"/>
            <a:ext cx="2231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02D72"/>
                </a:solidFill>
              </a:defRPr>
            </a:pPr>
            <a:r>
              <a:t>Stage 1: 20% Advance</a:t>
            </a:r>
          </a:p>
          <a:p>
            <a:pPr>
              <a:spcBef>
                <a:spcPts val="300"/>
              </a:spcBef>
              <a:defRPr sz="1100" b="1">
                <a:solidFill>
                  <a:srgbClr val="056DAE"/>
                </a:solidFill>
              </a:defRPr>
            </a:pPr>
            <a:r>
              <a:t>Factory Acceptance (FAT)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TÜV SÜD audit certificate verified on Drunix ledger. Advance liquidity disbursed to supplier for raw material kickoff.</a:t>
            </a:r>
          </a:p>
          <a:p>
            <a:pPr>
              <a:spcBef>
                <a:spcPts val="1000"/>
              </a:spcBef>
              <a:defRPr sz="950" b="1">
                <a:solidFill>
                  <a:srgbClr val="056DAE"/>
                </a:solidFill>
              </a:defRPr>
            </a:pPr>
            <a:r>
              <a:t>⚡ Trigger: TÜV SÜD Audit Hash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53312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1554480"/>
            <a:ext cx="530352" cy="530352"/>
          </a:xfrm>
          <a:prstGeom prst="ellipse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76272"/>
            <a:ext cx="2231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02D72"/>
                </a:solidFill>
              </a:defRPr>
            </a:pPr>
            <a:r>
              <a:t>Stage 2: 30% Departure</a:t>
            </a:r>
          </a:p>
          <a:p>
            <a:pPr>
              <a:spcBef>
                <a:spcPts val="300"/>
              </a:spcBef>
              <a:defRPr sz="1100" b="1">
                <a:solidFill>
                  <a:srgbClr val="002D72"/>
                </a:solidFill>
              </a:defRPr>
            </a:pPr>
            <a:r>
              <a:t>Origin Port Loading &amp; e-BL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Vessel carrier (MSC) confirms container on board. Digital e-Bill of Lading NFT is minted and locked in smart escrow.</a:t>
            </a:r>
          </a:p>
          <a:p>
            <a:pPr>
              <a:spcBef>
                <a:spcPts val="1000"/>
              </a:spcBef>
              <a:defRPr sz="950" b="1">
                <a:solidFill>
                  <a:srgbClr val="056DAE"/>
                </a:solidFill>
              </a:defRPr>
            </a:pPr>
            <a:r>
              <a:t>⚡ Trigger: Carrier AIS Departure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53312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1554480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176272"/>
            <a:ext cx="2231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02D72"/>
                </a:solidFill>
              </a:defRPr>
            </a:pPr>
            <a:r>
              <a:t>Stage 3: 30% Customs</a:t>
            </a:r>
          </a:p>
          <a:p>
            <a:pPr>
              <a:spcBef>
                <a:spcPts val="300"/>
              </a:spcBef>
              <a:defRPr sz="1100" b="1">
                <a:solidFill>
                  <a:srgbClr val="D97706"/>
                </a:solidFill>
              </a:defRPr>
            </a:pPr>
            <a:r>
              <a:t>ICEGATE Customs Clearance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Indian Customs duty verified at Nhava Sheva (JNPT). Funds disbursed &amp; purpose-bound e-RUPI vouchers issued for port handling.</a:t>
            </a:r>
          </a:p>
          <a:p>
            <a:pPr>
              <a:spcBef>
                <a:spcPts val="1000"/>
              </a:spcBef>
              <a:defRPr sz="950" b="1">
                <a:solidFill>
                  <a:srgbClr val="056DAE"/>
                </a:solidFill>
              </a:defRPr>
            </a:pPr>
            <a:r>
              <a:t>⚡ Trigger: ICEGATE OOC Granted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53312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52560" y="1554480"/>
            <a:ext cx="530352" cy="5303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2176272"/>
            <a:ext cx="2231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02D72"/>
                </a:solidFill>
              </a:defRPr>
            </a:pPr>
            <a:r>
              <a:t>Stage 4: 20% Final DvP</a:t>
            </a:r>
          </a:p>
          <a:p>
            <a:pPr>
              <a:spcBef>
                <a:spcPts val="300"/>
              </a:spcBef>
              <a:defRPr sz="1100" b="1">
                <a:solidFill>
                  <a:srgbClr val="059669"/>
                </a:solidFill>
              </a:defRPr>
            </a:pPr>
            <a:r>
              <a:t>Site Delivery &amp; Title Transfer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IoT GPS geofence reached. Final tranche disbursed, and legal title of goods (e-BL NFT) transfers atomically to buyer.</a:t>
            </a:r>
          </a:p>
          <a:p>
            <a:pPr>
              <a:spcBef>
                <a:spcPts val="1000"/>
              </a:spcBef>
              <a:defRPr sz="950" b="1">
                <a:solidFill>
                  <a:srgbClr val="056DAE"/>
                </a:solidFill>
              </a:defRPr>
            </a:pPr>
            <a:r>
              <a:t>⚡ Trigger: IoT GPS + Temp Telemetry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6DAE"/>
                </a:solidFill>
              </a:defRPr>
            </a:pPr>
            <a:r>
              <a:t>CITIFLOW ESCROW | INSTITUTIONAL TRADE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2D72"/>
                </a:solidFill>
              </a:defRPr>
            </a:pPr>
            <a:r>
              <a:t>Dual-Rail Settlement: Citibank Global Treasury + NPCI Sovereign Rails</a:t>
            </a:r>
          </a:p>
        </p:txBody>
      </p:sp>
      <p:pic>
        <p:nvPicPr>
          <p:cNvPr id="6" name="Picture 5" descr="ci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92608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1353312"/>
            <a:ext cx="5257800" cy="484632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056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002D72"/>
                </a:solidFill>
              </a:defRPr>
            </a:pPr>
            <a:r>
              <a:t>🏦 Citibank Institutional Treasury Gateway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ISO 20022 pacs.008.001.08: Instant automated customer credit transfer payload generation ready for SWIFT/Fedwire.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camt.053 Real-Time Statement Reporting: End-of-day bank statement cash reconciliation for instant corporate audit.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Citi FX Desk Spot Hedging: Dynamic live USD/INR market feeds with forward hedge locking and liquidity spreads.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Institutional Corporate Escrow Vault: FDIC &amp; RBI harmonized holding accounts with programmatic smart yield optimization.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53312"/>
            <a:ext cx="5257800" cy="4846320"/>
          </a:xfrm>
          <a:prstGeom prst="roundRect">
            <a:avLst/>
          </a:prstGeom>
          <a:solidFill>
            <a:srgbClr val="FEFCF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55448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D97706"/>
                </a:solidFill>
              </a:defRPr>
            </a:pPr>
            <a:r>
              <a:t>🇮🇳 NPCI Sovereign Real-Time Rails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1-Click UPI 2.0 Real-Time Execution: Instant payment intent via Google Pay, PhonePe, and BHIM UPI 2.0.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UPI AutoPay Standing Mandates: Event-triggered smart instructions for autonomous milestone tranche funding.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Purpose-Bound e-RUPI Vouchers: Dedicated digital vouchers for customs duty and container demurrage clearance.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Zero-Friction MSME Cross-Border Access: Enables Indian SMEs to trade globally with institutional escrow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6DAE"/>
                </a:solidFill>
              </a:defRPr>
            </a:pPr>
            <a:r>
              <a:t>CITIFLOW ESCROW | INSTITUTIONAL TRADE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2D72"/>
                </a:solidFill>
              </a:defRPr>
            </a:pPr>
            <a:r>
              <a:t>Transforming Trade Unit Economics: Traditional LC vs. CitiFlow Escrow</a:t>
            </a:r>
          </a:p>
        </p:txBody>
      </p:sp>
      <p:pic>
        <p:nvPicPr>
          <p:cNvPr id="6" name="Picture 5" descr="ci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92608"/>
            <a:ext cx="960120" cy="9601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7160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3456432"/>
                <a:gridCol w="1554480"/>
              </a:tblGrid>
              <a:tr h="77724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Traditional Letter of Credit (LC)</a:t>
                      </a:r>
                    </a:p>
                  </a:txBody>
                  <a:tcPr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CitiFlow Escrow (Drunix + Citi + NPCI)</a:t>
                      </a:r>
                    </a:p>
                  </a:txBody>
                  <a:tcPr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2D7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Settlement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14 to 28 Days (Manual paper courier)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56DAE"/>
                          </a:solidFill>
                        </a:defRPr>
                      </a:pPr>
                      <a:r>
                        <a:t>&lt; 30 Seconds per Milestone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99%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Intermediation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2.5% to 4.0% of trade value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56DAE"/>
                          </a:solidFill>
                        </a:defRPr>
                      </a:pPr>
                      <a:r>
                        <a:t>&lt; 0.35% Total Execution Fee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88% Cheaper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Delivery vs.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Non-Atomic (Separate paper transfer)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56DAE"/>
                          </a:solidFill>
                        </a:defRPr>
                      </a:pPr>
                      <a:r>
                        <a:t>100% Atomic on-chain (ERC-721 e-BL)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Zero Title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Customs &amp; Duty Link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Manual cheques / Offline RTGS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56DAE"/>
                          </a:solidFill>
                        </a:defRPr>
                      </a:pPr>
                      <a:r>
                        <a:t>Real-Time e-RUPI &amp; ICEGATE Oracle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Zero Demurrage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Regulatory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Manual EDPMS / IDPMS paperwork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56DAE"/>
                          </a:solidFill>
                        </a:defRPr>
                      </a:pPr>
                      <a:r>
                        <a:t>Automated ISO 20022 XML &amp;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100% 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6DAE"/>
                </a:solidFill>
              </a:defRPr>
            </a:pPr>
            <a:r>
              <a:t>CITIFLOW ESCROW | INSTITUTIONAL TRADE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2D72"/>
                </a:solidFill>
              </a:defRPr>
            </a:pPr>
            <a:r>
              <a:t>Business Model, Revenue Streams &amp; Institutional Value Proposition</a:t>
            </a:r>
          </a:p>
        </p:txBody>
      </p:sp>
      <p:pic>
        <p:nvPicPr>
          <p:cNvPr id="6" name="Picture 5" descr="ci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92608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13716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💰 Smart Escrow Fee</a:t>
            </a:r>
          </a:p>
          <a:p>
            <a:pPr>
              <a:spcBef>
                <a:spcPts val="300"/>
              </a:spcBef>
              <a:defRPr sz="1100" b="1">
                <a:solidFill>
                  <a:srgbClr val="059669"/>
                </a:solidFill>
              </a:defRPr>
            </a:pPr>
            <a:r>
              <a:t>0.15% to 0.25% per Trade Agreement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Charged to trade participants upon successful milestone execution. Saves enterprises 85% compared to 2-4% traditional LC costs while generating high-margin protocol revenue.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36192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📈 FX Spread &amp; Treasury Float</a:t>
            </a:r>
          </a:p>
          <a:p>
            <a:pPr>
              <a:spcBef>
                <a:spcPts val="300"/>
              </a:spcBef>
              <a:defRPr sz="1100" b="1">
                <a:solidFill>
                  <a:srgbClr val="059669"/>
                </a:solidFill>
              </a:defRPr>
            </a:pPr>
            <a:r>
              <a:t>Dynamic FX Hedging &amp; Yield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Citibank captures spot FX spread on cross-border corridor conversions (USD to INR) while optimizing institutional treasury float yield on locked escrow deposits.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67328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📡 Oracle API Subscriptions</a:t>
            </a:r>
          </a:p>
          <a:p>
            <a:pPr>
              <a:spcBef>
                <a:spcPts val="300"/>
              </a:spcBef>
              <a:defRPr sz="1100" b="1">
                <a:solidFill>
                  <a:srgbClr val="059669"/>
                </a:solidFill>
              </a:defRPr>
            </a:pPr>
            <a:r>
              <a:t>Customs &amp; Carrier Telemetry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Enterprise SaaS subscription tiers for freight forwarders, terminal operators (JNPT/Mundra), and inspection agencies (TÜV SÜD) to attest verified data to Drunix.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67328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3192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🚀 RWA Secondary Financing</a:t>
            </a:r>
          </a:p>
          <a:p>
            <a:pPr>
              <a:spcBef>
                <a:spcPts val="300"/>
              </a:spcBef>
              <a:defRPr sz="1100" b="1">
                <a:solidFill>
                  <a:srgbClr val="059669"/>
                </a:solidFill>
              </a:defRPr>
            </a:pPr>
            <a:r>
              <a:t>Invoice Discounting Marketplace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Tokenized e-Bills of Lading locked in smart escrow can be used as unencumbered collateral for instant institutional working capital loans before voyage arrival.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6DAE"/>
                </a:solidFill>
              </a:defRPr>
            </a:pPr>
            <a:r>
              <a:t>CITIFLOW ESCROW | INSTITUTIONAL TRADE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2D72"/>
                </a:solidFill>
              </a:defRPr>
            </a:pPr>
            <a:r>
              <a:t>Roadmap &amp; Vision: Pioneering the Future of Programmable Global Trade</a:t>
            </a:r>
          </a:p>
        </p:txBody>
      </p:sp>
      <p:pic>
        <p:nvPicPr>
          <p:cNvPr id="6" name="Picture 5" descr="ci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92608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1371600"/>
            <a:ext cx="347472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6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71600"/>
            <a:ext cx="3474720" cy="73152"/>
          </a:xfrm>
          <a:prstGeom prst="rect">
            <a:avLst/>
          </a:prstGeom>
          <a:solidFill>
            <a:srgbClr val="05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72768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Phase 1: Hackathon MVP</a:t>
            </a:r>
          </a:p>
          <a:p>
            <a:pPr>
              <a:spcBef>
                <a:spcPts val="300"/>
              </a:spcBef>
              <a:defRPr sz="1100" b="1">
                <a:solidFill>
                  <a:srgbClr val="056DAE"/>
                </a:solidFill>
              </a:defRPr>
            </a:pPr>
            <a:r>
              <a:t>Completed &amp; Verified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Drunix L1 smart contracts deployed</a:t>
            </a:r>
            <a:br/>
            <a:r>
              <a:t>• Dual-rail ISO 20022 &amp; UPI engine</a:t>
            </a:r>
            <a:br/>
            <a:r>
              <a:t>• 18/18 Unit &amp; compliance tests passing</a:t>
            </a:r>
            <a:br/>
            <a:r>
              <a:t>• Live responsive trade execution cockpit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4747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72768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Phase 2: Pilot Deployment</a:t>
            </a:r>
          </a:p>
          <a:p>
            <a:pPr>
              <a:spcBef>
                <a:spcPts val="300"/>
              </a:spcBef>
              <a:defRPr sz="1100" b="1">
                <a:solidFill>
                  <a:srgbClr val="D97706"/>
                </a:solidFill>
              </a:defRPr>
            </a:pPr>
            <a:r>
              <a:t>Q1 - Q2 2027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Pilot on 5 Indo-German &amp; Indo-US trade routes</a:t>
            </a:r>
            <a:br/>
            <a:r>
              <a:t>• Direct ICEGATE Customs API integration</a:t>
            </a:r>
            <a:br/>
            <a:r>
              <a:t>• Multi-currency FX corridors (EUR, GBP, SGD)</a:t>
            </a:r>
            <a:br/>
            <a:r>
              <a:t>• Automated EDPMS/IDPMS filing desk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71600"/>
            <a:ext cx="347472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71600"/>
            <a:ext cx="34747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572768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2D72"/>
                </a:solidFill>
              </a:defRPr>
            </a:pPr>
            <a:r>
              <a:t>Phase 3: Institutional Scale</a:t>
            </a:r>
          </a:p>
          <a:p>
            <a:pPr>
              <a:spcBef>
                <a:spcPts val="300"/>
              </a:spcBef>
              <a:defRPr sz="1100" b="1">
                <a:solidFill>
                  <a:srgbClr val="059669"/>
                </a:solidFill>
              </a:defRPr>
            </a:pPr>
            <a:r>
              <a:t>Q3 2027 &amp; Beyond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Secondary RWA bill of lading discounting</a:t>
            </a:r>
            <a:br/>
            <a:r>
              <a:t>• Integration with global port terminal operators</a:t>
            </a:r>
            <a:br/>
            <a:r>
              <a:t>• Decentralized Identity (DID) for instant KYC</a:t>
            </a:r>
            <a:br/>
            <a:r>
              <a:t>• Automated marine cargo insurance payouts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29200"/>
            <a:ext cx="10680192" cy="1234440"/>
          </a:xfrm>
          <a:prstGeom prst="roundRect">
            <a:avLst/>
          </a:prstGeom>
          <a:solidFill>
            <a:srgbClr val="002D72"/>
          </a:solidFill>
          <a:ln w="1524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38928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CitiFlow Escrow: Transforming static paper commerce into programmable real-time Delivery vs. Payment.</a:t>
            </a:r>
          </a:p>
          <a:p>
            <a:pPr>
              <a:spcBef>
                <a:spcPts val="400"/>
              </a:spcBef>
              <a:defRPr sz="1150">
                <a:solidFill>
                  <a:srgbClr val="B4D7F5"/>
                </a:solidFill>
              </a:defRPr>
            </a:pPr>
            <a:r>
              <a:t>Built for the Drunix Hackathon 2026 | Citigroup Inc. × India Blockchain Forum | Challenge CHL-7007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