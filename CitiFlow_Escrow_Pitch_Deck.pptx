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i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14400"/>
            <a:ext cx="1645920" cy="1645920"/>
          </a:xfrm>
          <a:prstGeom prst="rect">
            <a:avLst/>
          </a:prstGeom>
        </p:spPr>
      </p:pic>
      <p:pic>
        <p:nvPicPr>
          <p:cNvPr id="5" name="Picture 4" descr="npc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960120"/>
            <a:ext cx="1737360" cy="539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CitiFlow Escrow</a:t>
            </a:r>
          </a:p>
          <a:p>
            <a:pPr>
              <a:spcBef>
                <a:spcPts val="1400"/>
              </a:spcBef>
              <a:defRPr sz="2000">
                <a:solidFill>
                  <a:srgbClr val="A0CDF0"/>
                </a:solidFill>
              </a:defRPr>
            </a:pPr>
            <a:r>
              <a:t>Programmable Real-Time Milestone Trade Finance &amp; Cross-Border Delivery vs. Payment (DvP)</a:t>
            </a:r>
          </a:p>
          <a:p>
            <a:pPr>
              <a:spcBef>
                <a:spcPts val="1000"/>
              </a:spcBef>
              <a:defRPr sz="1400">
                <a:solidFill>
                  <a:srgbClr val="D2E1F0"/>
                </a:solidFill>
              </a:defRPr>
            </a:pPr>
            <a:r>
              <a:t>Bridging Citibank Global Treasury &amp; FX Rails with NPCI Sovereign Rails on Drunix L1 Blockchain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94960"/>
            <a:ext cx="192024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C8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2D72"/>
                </a:solidFill>
              </a:defRPr>
            </a:pPr>
            <a:r>
              <a:t>Drunix Hackathon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79" y="5394960"/>
            <a:ext cx="192024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C8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2D72"/>
                </a:solidFill>
              </a:defRPr>
            </a:pPr>
            <a:r>
              <a:t>Challenge CHL-7007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5394960"/>
            <a:ext cx="192024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C8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2D72"/>
                </a:solidFill>
              </a:defRPr>
            </a:pPr>
            <a:r>
              <a:t>ISO 20022 pacs.008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394960"/>
            <a:ext cx="192024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C8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2D72"/>
                </a:solidFill>
              </a:defRPr>
            </a:pPr>
            <a:r>
              <a:t>NPCI UPI 2.0 &amp; e-RUPI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5394960"/>
            <a:ext cx="192024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C8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2D72"/>
                </a:solidFill>
              </a:defRPr>
            </a:pPr>
            <a:r>
              <a:t>ERC-721 RWA DvP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56DAE"/>
                </a:solidFill>
              </a:defRPr>
            </a:pPr>
            <a:r>
              <a:t>CITIFLOW ESCROW | INSTITUTIONAL TRADE &amp; DVP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2D72"/>
                </a:solidFill>
              </a:defRPr>
            </a:pPr>
            <a:r>
              <a:t>The Problem: The $2.5 Trillion Global Trade Trust &amp; Liquidity Trap</a:t>
            </a:r>
          </a:p>
        </p:txBody>
      </p:sp>
      <p:pic>
        <p:nvPicPr>
          <p:cNvPr id="5" name="Picture 4" descr="ci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292608"/>
            <a:ext cx="1051560" cy="1051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25880"/>
            <a:ext cx="5257800" cy="219456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72"/>
                </a:solidFill>
              </a:defRPr>
            </a:pPr>
            <a:r>
              <a:t>🚨 Counterparty Default Risk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Suppliers fear producing high-value goods without 100% advance; buyers fear paying upfront without verified quality, bills of lading, and customs inspection.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25880"/>
            <a:ext cx="5257800" cy="219456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72"/>
                </a:solidFill>
              </a:defRPr>
            </a:pPr>
            <a:r>
              <a:t>⏳ Trapped Working Capital (LCs)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Traditional Letters of Credit take 14 to 28 days to process, incur 2% to 4% in bank intermediation fees, and rely on slow paper-heavy workflows.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5257800" cy="21945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3192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72"/>
                </a:solidFill>
              </a:defRPr>
            </a:pPr>
            <a:r>
              <a:t>🔗 Siloed Banking &amp; Telemetry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Domestic real-time payment rails (UPI) and global SWIFT corridors do not natively connect to supply chain events (ICEGATE, vessel AIS, IoT sensors).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257800" cy="2194560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D72"/>
                </a:solidFill>
              </a:defRPr>
            </a:pPr>
            <a:r>
              <a:t>📄 Zero Delivery vs. Payment (DvP)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Cargo ownership title (Bill of Lading) is physically couriered separately from payments, creating reconciliation latency, duplicate financing, and fraud.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56DAE"/>
                </a:solidFill>
              </a:defRPr>
            </a:pPr>
            <a:r>
              <a:t>CITIFLOW ESCROW | INSTITUTIONAL TRADE &amp; DVP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2D72"/>
                </a:solidFill>
              </a:defRPr>
            </a:pPr>
            <a:r>
              <a:t>The Solution: Unified Programmable Trade Settlement on Drunix</a:t>
            </a:r>
          </a:p>
        </p:txBody>
      </p:sp>
      <p:pic>
        <p:nvPicPr>
          <p:cNvPr id="5" name="Picture 4" descr="ci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292608"/>
            <a:ext cx="1051560" cy="1051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25603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6D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00200"/>
            <a:ext cx="223113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D72"/>
                </a:solidFill>
              </a:defRPr>
            </a:pPr>
            <a:r>
              <a:t>🔒 Smart Escrow Vault</a:t>
            </a:r>
          </a:p>
          <a:p>
            <a:pPr>
              <a:spcBef>
                <a:spcPts val="400"/>
              </a:spcBef>
              <a:defRPr sz="1050" b="1">
                <a:solidFill>
                  <a:srgbClr val="056DAE"/>
                </a:solidFill>
              </a:defRPr>
            </a:pPr>
            <a:r>
              <a:t>TradeEscrow.sol on Drunix</a:t>
            </a:r>
          </a:p>
          <a:p>
            <a:pPr>
              <a:spcBef>
                <a:spcPts val="1200"/>
              </a:spcBef>
              <a:defRPr sz="1100">
                <a:solidFill>
                  <a:srgbClr val="212529"/>
                </a:solidFill>
              </a:defRPr>
            </a:pPr>
            <a:r>
              <a:t>Programmable tranche logic that locks capital upfront and releases tranches only upon multi-sig cryptographic oracle proofs.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5603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6D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600200"/>
            <a:ext cx="223113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D72"/>
                </a:solidFill>
              </a:defRPr>
            </a:pPr>
            <a:r>
              <a:t>📦 Tokenized RWA (e-BL)</a:t>
            </a:r>
          </a:p>
          <a:p>
            <a:pPr>
              <a:spcBef>
                <a:spcPts val="400"/>
              </a:spcBef>
              <a:defRPr sz="1050" b="1">
                <a:solidFill>
                  <a:srgbClr val="056DAE"/>
                </a:solidFill>
              </a:defRPr>
            </a:pPr>
            <a:r>
              <a:t>ERC-721 Digital Title</a:t>
            </a:r>
          </a:p>
          <a:p>
            <a:pPr>
              <a:spcBef>
                <a:spcPts val="1200"/>
              </a:spcBef>
              <a:defRPr sz="1100">
                <a:solidFill>
                  <a:srgbClr val="212529"/>
                </a:solidFill>
              </a:defRPr>
            </a:pPr>
            <a:r>
              <a:t>Cargo consignment is minted on-chain as a digital Bill of Lading, held in escrow, and transferred atomically upon payment (DvP).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25603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6D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072" y="1600200"/>
            <a:ext cx="223113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D72"/>
                </a:solidFill>
              </a:defRPr>
            </a:pPr>
            <a:r>
              <a:t>📡 Real-Time Oracles</a:t>
            </a:r>
          </a:p>
          <a:p>
            <a:pPr>
              <a:spcBef>
                <a:spcPts val="400"/>
              </a:spcBef>
              <a:defRPr sz="1050" b="1">
                <a:solidFill>
                  <a:srgbClr val="056DAE"/>
                </a:solidFill>
              </a:defRPr>
            </a:pPr>
            <a:r>
              <a:t>ICEGATE &amp; Telemetry Feeds</a:t>
            </a:r>
          </a:p>
          <a:p>
            <a:pPr>
              <a:spcBef>
                <a:spcPts val="1200"/>
              </a:spcBef>
              <a:defRPr sz="1100">
                <a:solidFill>
                  <a:srgbClr val="212529"/>
                </a:solidFill>
              </a:defRPr>
            </a:pPr>
            <a:r>
              <a:t>Direct automated verification of TÜV SÜD factory inspection, MSC shipping carrier vessel GPS, and Indian Customs Out-of-Charge.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371600"/>
            <a:ext cx="25603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6D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88552" y="1600200"/>
            <a:ext cx="223113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D72"/>
                </a:solidFill>
              </a:defRPr>
            </a:pPr>
            <a:r>
              <a:t>🏦 Dual Settlement Rails</a:t>
            </a:r>
          </a:p>
          <a:p>
            <a:pPr>
              <a:spcBef>
                <a:spcPts val="400"/>
              </a:spcBef>
              <a:defRPr sz="1050" b="1">
                <a:solidFill>
                  <a:srgbClr val="056DAE"/>
                </a:solidFill>
              </a:defRPr>
            </a:pPr>
            <a:r>
              <a:t>Citi ISO 20022 + NPCI</a:t>
            </a:r>
          </a:p>
          <a:p>
            <a:pPr>
              <a:spcBef>
                <a:spcPts val="1200"/>
              </a:spcBef>
              <a:defRPr sz="1100">
                <a:solidFill>
                  <a:srgbClr val="212529"/>
                </a:solidFill>
              </a:defRPr>
            </a:pPr>
            <a:r>
              <a:t>Institutional cross-border wires via pacs.008 XML &amp; live FX hedging combined with 1-click UPI 2.0 &amp; e-RUPI vouchers.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56DAE"/>
                </a:solidFill>
              </a:defRPr>
            </a:pPr>
            <a:r>
              <a:t>CITIFLOW ESCROW | INSTITUTIONAL TRADE &amp; DVP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2D72"/>
                </a:solidFill>
              </a:defRPr>
            </a:pPr>
            <a:r>
              <a:t>4-Stage Programmable Milestone &amp; DvP Execution Lifecycle</a:t>
            </a:r>
          </a:p>
        </p:txBody>
      </p:sp>
      <p:pic>
        <p:nvPicPr>
          <p:cNvPr id="5" name="Picture 4" descr="ci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292608"/>
            <a:ext cx="1051560" cy="1051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25603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600200"/>
            <a:ext cx="502920" cy="502920"/>
          </a:xfrm>
          <a:prstGeom prst="ellipse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194560"/>
            <a:ext cx="223113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D72"/>
                </a:solidFill>
              </a:defRPr>
            </a:pPr>
            <a:r>
              <a:t>Stage 1: 20% Advance</a:t>
            </a:r>
          </a:p>
          <a:p>
            <a:pPr>
              <a:spcBef>
                <a:spcPts val="400"/>
              </a:spcBef>
              <a:defRPr sz="1050" b="1">
                <a:solidFill>
                  <a:srgbClr val="056DAE"/>
                </a:solidFill>
              </a:defRPr>
            </a:pPr>
            <a:r>
              <a:t>Factory Acceptance Test (FAT)</a:t>
            </a:r>
          </a:p>
          <a:p>
            <a:pPr>
              <a:spcBef>
                <a:spcPts val="1000"/>
              </a:spcBef>
              <a:defRPr sz="1100">
                <a:solidFill>
                  <a:srgbClr val="212529"/>
                </a:solidFill>
              </a:defRPr>
            </a:pPr>
            <a:r>
              <a:t>TÜV SÜD audit certificate verified on Drunix ledger. Advance liquidity released to supplier for raw material kickoff.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5603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11880" y="1600200"/>
            <a:ext cx="502920" cy="502920"/>
          </a:xfrm>
          <a:prstGeom prst="ellipse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194560"/>
            <a:ext cx="223113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D72"/>
                </a:solidFill>
              </a:defRPr>
            </a:pPr>
            <a:r>
              <a:t>Stage 2: 30% Departure</a:t>
            </a:r>
          </a:p>
          <a:p>
            <a:pPr>
              <a:spcBef>
                <a:spcPts val="400"/>
              </a:spcBef>
              <a:defRPr sz="1050" b="1">
                <a:solidFill>
                  <a:srgbClr val="056DAE"/>
                </a:solidFill>
              </a:defRPr>
            </a:pPr>
            <a:r>
              <a:t>Origin Port Loading &amp; e-BL</a:t>
            </a:r>
          </a:p>
          <a:p>
            <a:pPr>
              <a:spcBef>
                <a:spcPts val="1000"/>
              </a:spcBef>
              <a:defRPr sz="1100">
                <a:solidFill>
                  <a:srgbClr val="212529"/>
                </a:solidFill>
              </a:defRPr>
            </a:pPr>
            <a:r>
              <a:t>Vessel carrier (MSC) confirms container on board. Digital e-Bill of Lading NFT is minted and locked in smart escrow.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371600"/>
            <a:ext cx="25603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600200"/>
            <a:ext cx="502920" cy="502920"/>
          </a:xfrm>
          <a:prstGeom prst="ellipse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2194560"/>
            <a:ext cx="223113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D72"/>
                </a:solidFill>
              </a:defRPr>
            </a:pPr>
            <a:r>
              <a:t>Stage 3: 30% Customs</a:t>
            </a:r>
          </a:p>
          <a:p>
            <a:pPr>
              <a:spcBef>
                <a:spcPts val="400"/>
              </a:spcBef>
              <a:defRPr sz="1050" b="1">
                <a:solidFill>
                  <a:srgbClr val="056DAE"/>
                </a:solidFill>
              </a:defRPr>
            </a:pPr>
            <a:r>
              <a:t>ICEGATE Customs Out-of-Charge</a:t>
            </a:r>
          </a:p>
          <a:p>
            <a:pPr>
              <a:spcBef>
                <a:spcPts val="1000"/>
              </a:spcBef>
              <a:defRPr sz="1100">
                <a:solidFill>
                  <a:srgbClr val="212529"/>
                </a:solidFill>
              </a:defRPr>
            </a:pPr>
            <a:r>
              <a:t>Indian Customs duty verified at Nhava Sheva (JNPT). Funds disbursed &amp; purpose-bound e-RUPI vouchers issued for port duties.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371600"/>
            <a:ext cx="25603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06840" y="1600200"/>
            <a:ext cx="502920" cy="502920"/>
          </a:xfrm>
          <a:prstGeom prst="ellipse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2194560"/>
            <a:ext cx="223113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D72"/>
                </a:solidFill>
              </a:defRPr>
            </a:pPr>
            <a:r>
              <a:t>Stage 4: 20% Final DvP</a:t>
            </a:r>
          </a:p>
          <a:p>
            <a:pPr>
              <a:spcBef>
                <a:spcPts val="400"/>
              </a:spcBef>
              <a:defRPr sz="1050" b="1">
                <a:solidFill>
                  <a:srgbClr val="056DAE"/>
                </a:solidFill>
              </a:defRPr>
            </a:pPr>
            <a:r>
              <a:t>Site Delivery &amp; Title Transfer</a:t>
            </a:r>
          </a:p>
          <a:p>
            <a:pPr>
              <a:spcBef>
                <a:spcPts val="1000"/>
              </a:spcBef>
              <a:defRPr sz="1100">
                <a:solidFill>
                  <a:srgbClr val="212529"/>
                </a:solidFill>
              </a:defRPr>
            </a:pPr>
            <a:r>
              <a:t>IoT GPS destination reached. Final tranche disbursed, and legal title of goods (e-BL NFT) transfers atomically to buyer.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56DAE"/>
                </a:solidFill>
              </a:defRPr>
            </a:pPr>
            <a:r>
              <a:t>CITIFLOW ESCROW | INSTITUTIONAL TRADE &amp; DVP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2D72"/>
                </a:solidFill>
              </a:defRPr>
            </a:pPr>
            <a:r>
              <a:t>Dual-Rail Settlement: Citibank Global Treasury + NPCI Sovereign Rails</a:t>
            </a:r>
          </a:p>
        </p:txBody>
      </p:sp>
      <p:pic>
        <p:nvPicPr>
          <p:cNvPr id="5" name="Picture 4" descr="ci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292608"/>
            <a:ext cx="1051560" cy="1051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257800" cy="4754880"/>
          </a:xfrm>
          <a:prstGeom prst="roundRect">
            <a:avLst/>
          </a:prstGeom>
          <a:solidFill>
            <a:srgbClr val="F0F8FF"/>
          </a:solidFill>
          <a:ln w="15240">
            <a:solidFill>
              <a:srgbClr val="056D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2D72"/>
                </a:solidFill>
              </a:defRPr>
            </a:pPr>
            <a:r>
              <a:t>🏦 Citibank Institutional Treasury</a:t>
            </a:r>
          </a:p>
          <a:p>
            <a:pPr>
              <a:spcBef>
                <a:spcPts val="800"/>
              </a:spcBef>
              <a:defRPr sz="1150">
                <a:solidFill>
                  <a:srgbClr val="212529"/>
                </a:solidFill>
              </a:defRPr>
            </a:pPr>
            <a:r>
              <a:t>• ISO 20022 pacs.008.001.08: Instant cross-border customer credit transfer payload generation.</a:t>
            </a:r>
          </a:p>
          <a:p>
            <a:pPr>
              <a:spcBef>
                <a:spcPts val="800"/>
              </a:spcBef>
              <a:defRPr sz="1150">
                <a:solidFill>
                  <a:srgbClr val="212529"/>
                </a:solidFill>
              </a:defRPr>
            </a:pPr>
            <a:r>
              <a:t>• camt.053 Real-Time Reporting: Automated end-of-day bank statement reconciliation for corporate audit.</a:t>
            </a:r>
          </a:p>
          <a:p>
            <a:pPr>
              <a:spcBef>
                <a:spcPts val="800"/>
              </a:spcBef>
              <a:defRPr sz="1150">
                <a:solidFill>
                  <a:srgbClr val="212529"/>
                </a:solidFill>
              </a:defRPr>
            </a:pPr>
            <a:r>
              <a:t>• Citi FX Desk Spot Hedging: Dynamic live USD/INR market rates with locked spot hedging.</a:t>
            </a:r>
          </a:p>
          <a:p>
            <a:pPr>
              <a:spcBef>
                <a:spcPts val="800"/>
              </a:spcBef>
              <a:defRPr sz="1150">
                <a:solidFill>
                  <a:srgbClr val="212529"/>
                </a:solidFill>
              </a:defRPr>
            </a:pPr>
            <a:r>
              <a:t>• Corporate Escrow Vault: FDIC &amp; regulatory compliant holding accounts with yield optimization.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257800" cy="4754880"/>
          </a:xfrm>
          <a:prstGeom prst="roundRect">
            <a:avLst/>
          </a:prstGeom>
          <a:solidFill>
            <a:srgbClr val="FEFCF6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0020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97706"/>
                </a:solidFill>
              </a:defRPr>
            </a:pPr>
            <a:r>
              <a:t>🇮🇳 NPCI Sovereign Real-Time Rails</a:t>
            </a:r>
          </a:p>
          <a:p>
            <a:pPr>
              <a:spcBef>
                <a:spcPts val="800"/>
              </a:spcBef>
              <a:defRPr sz="1150">
                <a:solidFill>
                  <a:srgbClr val="212529"/>
                </a:solidFill>
              </a:defRPr>
            </a:pPr>
            <a:r>
              <a:t>• 1-Click UPI 2.0 Intent: Instant execution via Google Pay, PhonePe, and BHIM UPI.</a:t>
            </a:r>
          </a:p>
          <a:p>
            <a:pPr>
              <a:spcBef>
                <a:spcPts val="800"/>
              </a:spcBef>
              <a:defRPr sz="1150">
                <a:solidFill>
                  <a:srgbClr val="212529"/>
                </a:solidFill>
              </a:defRPr>
            </a:pPr>
            <a:r>
              <a:t>• UPI AutoPay Mandates: Event-triggered standing instructions for autonomous milestone funding.</a:t>
            </a:r>
          </a:p>
          <a:p>
            <a:pPr>
              <a:spcBef>
                <a:spcPts val="800"/>
              </a:spcBef>
              <a:defRPr sz="1150">
                <a:solidFill>
                  <a:srgbClr val="212529"/>
                </a:solidFill>
              </a:defRPr>
            </a:pPr>
            <a:r>
              <a:t>• Purpose-Bound e-RUPI: Dedicated digital vouchers for customs duty and container demurrage.</a:t>
            </a:r>
          </a:p>
          <a:p>
            <a:pPr>
              <a:spcBef>
                <a:spcPts val="800"/>
              </a:spcBef>
              <a:defRPr sz="1150">
                <a:solidFill>
                  <a:srgbClr val="212529"/>
                </a:solidFill>
              </a:defRPr>
            </a:pPr>
            <a:r>
              <a:t>• Zero-Friction SME Access: Enables Indian MSMEs to participate in global trade without LC friction.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56DAE"/>
                </a:solidFill>
              </a:defRPr>
            </a:pPr>
            <a:r>
              <a:t>CITIFLOW ESCROW | INSTITUTIONAL TRADE &amp; DVP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2D72"/>
                </a:solidFill>
              </a:defRPr>
            </a:pPr>
            <a:r>
              <a:t>Transforming Trade Unit Economics: Traditional LC vs. CitiFlow Escrow</a:t>
            </a:r>
          </a:p>
        </p:txBody>
      </p:sp>
      <p:pic>
        <p:nvPicPr>
          <p:cNvPr id="5" name="Picture 4" descr="ci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292608"/>
            <a:ext cx="1051560" cy="105156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91840"/>
                <a:gridCol w="3474720"/>
                <a:gridCol w="1584655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Metric / Dimension</a:t>
                      </a:r>
                    </a:p>
                  </a:txBody>
                  <a:tcPr>
                    <a:solidFill>
                      <a:srgbClr val="002D7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Traditional Letter of Credit (LC)</a:t>
                      </a:r>
                    </a:p>
                  </a:txBody>
                  <a:tcPr>
                    <a:solidFill>
                      <a:srgbClr val="002D7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CitiFlow Escrow (Drunix + Citi + NPCI)</a:t>
                      </a:r>
                    </a:p>
                  </a:txBody>
                  <a:tcPr>
                    <a:solidFill>
                      <a:srgbClr val="002D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002D7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Settlement 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 to 28 Days (Manual paper courier)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6DAE"/>
                          </a:solidFill>
                        </a:defRPr>
                      </a:pPr>
                      <a:r>
                        <a:t>&lt; 30 Seconds per Milestone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18136"/>
                          </a:solidFill>
                        </a:defRPr>
                      </a:pPr>
                      <a:r>
                        <a:t>99% 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Intermediation Cost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2.5% to 4.0% of deal value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6DAE"/>
                          </a:solidFill>
                        </a:defRPr>
                      </a:pPr>
                      <a:r>
                        <a:t>&lt; 0.35% Total Execution Fee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18136"/>
                          </a:solidFill>
                        </a:defRPr>
                      </a:pPr>
                      <a:r>
                        <a:t>88% Cheaper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Delivery vs. Payment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Non-Atomic (Separate Courier)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6DAE"/>
                          </a:solidFill>
                        </a:defRPr>
                      </a:pPr>
                      <a:r>
                        <a:t>100% Atomic on Drunix (ERC-721 e-BL)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18136"/>
                          </a:solidFill>
                        </a:defRPr>
                      </a:pPr>
                      <a:r>
                        <a:t>Zero Title Fraud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Customs &amp; Duty Link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Manual Chq / Offline RTGS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6DAE"/>
                          </a:solidFill>
                        </a:defRPr>
                      </a:pPr>
                      <a:r>
                        <a:t>Real-Time e-RUPI &amp; ICEGATE Oracle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18136"/>
                          </a:solidFill>
                        </a:defRPr>
                      </a:pPr>
                      <a:r>
                        <a:t>Zero Demurrage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Regulatory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Manual EDPMS/IDPMS reconciliation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6DAE"/>
                          </a:solidFill>
                        </a:defRPr>
                      </a:pPr>
                      <a:r>
                        <a:t>Automated ISO 20022 XML &amp; On-Chain Proof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18136"/>
                          </a:solidFill>
                        </a:defRPr>
                      </a:pPr>
                      <a:r>
                        <a:t>100% Compliant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56DAE"/>
                </a:solidFill>
              </a:defRPr>
            </a:pPr>
            <a:r>
              <a:t>CITIFLOW ESCROW | INSTITUTIONAL TRADE &amp; DVP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2D72"/>
                </a:solidFill>
              </a:defRPr>
            </a:pPr>
            <a:r>
              <a:t>Business Model, Revenue Streams &amp; Institutional Value Proposition</a:t>
            </a:r>
          </a:p>
        </p:txBody>
      </p:sp>
      <p:pic>
        <p:nvPicPr>
          <p:cNvPr id="5" name="Picture 4" descr="ci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292608"/>
            <a:ext cx="1051560" cy="1051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D72"/>
                </a:solidFill>
              </a:defRPr>
            </a:pPr>
            <a:r>
              <a:t>💰 Smart Escrow Fee</a:t>
            </a:r>
          </a:p>
          <a:p>
            <a:pPr>
              <a:spcBef>
                <a:spcPts val="300"/>
              </a:spcBef>
              <a:defRPr sz="1100" b="1">
                <a:solidFill>
                  <a:srgbClr val="018136"/>
                </a:solidFill>
              </a:defRPr>
            </a:pPr>
            <a:r>
              <a:t>0.15% to 0.25% per Trade Agreement</a:t>
            </a:r>
          </a:p>
          <a:p>
            <a:pPr>
              <a:spcBef>
                <a:spcPts val="600"/>
              </a:spcBef>
              <a:defRPr sz="1100">
                <a:solidFill>
                  <a:srgbClr val="212529"/>
                </a:solidFill>
              </a:defRPr>
            </a:pPr>
            <a:r>
              <a:t>Charged to the trade participants upon successful escrow completion. Saves enterprises 85% compared to 2-4% traditional LC costs while generating high-margin protocol revenue.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D72"/>
                </a:solidFill>
              </a:defRPr>
            </a:pPr>
            <a:r>
              <a:t>📈 FX Spread &amp; Treasury Float</a:t>
            </a:r>
          </a:p>
          <a:p>
            <a:pPr>
              <a:spcBef>
                <a:spcPts val="300"/>
              </a:spcBef>
              <a:defRPr sz="1100" b="1">
                <a:solidFill>
                  <a:srgbClr val="018136"/>
                </a:solidFill>
              </a:defRPr>
            </a:pPr>
            <a:r>
              <a:t>Dynamic FX Hedging &amp; Yield</a:t>
            </a:r>
          </a:p>
          <a:p>
            <a:pPr>
              <a:spcBef>
                <a:spcPts val="600"/>
              </a:spcBef>
              <a:defRPr sz="1100">
                <a:solidFill>
                  <a:srgbClr val="212529"/>
                </a:solidFill>
              </a:defRPr>
            </a:pPr>
            <a:r>
              <a:t>Citibank captures spot FX spread on cross-border corridor conversion (USD to INR) while optimizing institutional treasury float on locked escrow capital.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3192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D72"/>
                </a:solidFill>
              </a:defRPr>
            </a:pPr>
            <a:r>
              <a:t>📡 Oracle API Subscriptions</a:t>
            </a:r>
          </a:p>
          <a:p>
            <a:pPr>
              <a:spcBef>
                <a:spcPts val="300"/>
              </a:spcBef>
              <a:defRPr sz="1100" b="1">
                <a:solidFill>
                  <a:srgbClr val="018136"/>
                </a:solidFill>
              </a:defRPr>
            </a:pPr>
            <a:r>
              <a:t>Customs &amp; Carrier Telemetry</a:t>
            </a:r>
          </a:p>
          <a:p>
            <a:pPr>
              <a:spcBef>
                <a:spcPts val="600"/>
              </a:spcBef>
              <a:defRPr sz="1100">
                <a:solidFill>
                  <a:srgbClr val="212529"/>
                </a:solidFill>
              </a:defRPr>
            </a:pPr>
            <a:r>
              <a:t>Enterprise subscription tiers for freight forwarders, terminal operators (JNPT/Mundra), and inspection agencies (TÜV SÜD) to attest verified data to Drunix.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D72"/>
                </a:solidFill>
              </a:defRPr>
            </a:pPr>
            <a:r>
              <a:t>🚀 RWA Secondary Financing</a:t>
            </a:r>
          </a:p>
          <a:p>
            <a:pPr>
              <a:spcBef>
                <a:spcPts val="300"/>
              </a:spcBef>
              <a:defRPr sz="1100" b="1">
                <a:solidFill>
                  <a:srgbClr val="018136"/>
                </a:solidFill>
              </a:defRPr>
            </a:pPr>
            <a:r>
              <a:t>Invoice Discounting Marketplace</a:t>
            </a:r>
          </a:p>
          <a:p>
            <a:pPr>
              <a:spcBef>
                <a:spcPts val="600"/>
              </a:spcBef>
              <a:defRPr sz="1100">
                <a:solidFill>
                  <a:srgbClr val="212529"/>
                </a:solidFill>
              </a:defRPr>
            </a:pPr>
            <a:r>
              <a:t>Tokenized e-Bills of Lading locked in smart escrow can be used as unencumbered collateral for instant institutional working capital loans before voyage arrival.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56DAE"/>
                </a:solidFill>
              </a:defRPr>
            </a:pPr>
            <a:r>
              <a:t>CITIFLOW ESCROW | INSTITUTIONAL TRADE &amp; DVP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2D72"/>
                </a:solidFill>
              </a:defRPr>
            </a:pPr>
            <a:r>
              <a:t>Roadmap &amp; Vision: Pioneering the Future of Programmable Global Trade</a:t>
            </a:r>
          </a:p>
        </p:txBody>
      </p:sp>
      <p:pic>
        <p:nvPicPr>
          <p:cNvPr id="5" name="Picture 4" descr="ci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292608"/>
            <a:ext cx="1051560" cy="1051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3474720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6D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D72"/>
                </a:solidFill>
              </a:defRPr>
            </a:pPr>
            <a:r>
              <a:t>Phase 1: Hackathon MVP</a:t>
            </a:r>
          </a:p>
          <a:p>
            <a:pPr>
              <a:spcBef>
                <a:spcPts val="300"/>
              </a:spcBef>
              <a:defRPr sz="1100" b="1">
                <a:solidFill>
                  <a:srgbClr val="018136"/>
                </a:solidFill>
              </a:defRPr>
            </a:pPr>
            <a:r>
              <a:t>Completed &amp; Verified</a:t>
            </a:r>
          </a:p>
          <a:p>
            <a:pPr>
              <a:spcBef>
                <a:spcPts val="1000"/>
              </a:spcBef>
              <a:defRPr sz="1100">
                <a:solidFill>
                  <a:srgbClr val="212529"/>
                </a:solidFill>
              </a:defRPr>
            </a:pPr>
            <a:r>
              <a:t>• Drunix L1 smart contracts deployed</a:t>
            </a:r>
            <a:br/>
            <a:r>
              <a:t>• Dual-rail ISO 20022 &amp; UPI engine</a:t>
            </a:r>
            <a:br/>
            <a:r>
              <a:t>• 18/18 Unit &amp; compliance tests passing</a:t>
            </a:r>
            <a:br/>
            <a:r>
              <a:t>• Full-width responsive Citibank portal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71600"/>
            <a:ext cx="3474720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0020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D72"/>
                </a:solidFill>
              </a:defRPr>
            </a:pPr>
            <a:r>
              <a:t>Phase 2: Pilot Deployment</a:t>
            </a:r>
          </a:p>
          <a:p>
            <a:pPr>
              <a:spcBef>
                <a:spcPts val="300"/>
              </a:spcBef>
              <a:defRPr sz="1100" b="1">
                <a:solidFill>
                  <a:srgbClr val="056DAE"/>
                </a:solidFill>
              </a:defRPr>
            </a:pPr>
            <a:r>
              <a:t>Q1 - Q2 2027</a:t>
            </a:r>
          </a:p>
          <a:p>
            <a:pPr>
              <a:spcBef>
                <a:spcPts val="1000"/>
              </a:spcBef>
              <a:defRPr sz="1100">
                <a:solidFill>
                  <a:srgbClr val="212529"/>
                </a:solidFill>
              </a:defRPr>
            </a:pPr>
            <a:r>
              <a:t>• Pilot on 5 Indo-German &amp; Indo-US trade routes</a:t>
            </a:r>
            <a:br/>
            <a:r>
              <a:t>• Direct ICEGATE Customs API integration</a:t>
            </a:r>
            <a:br/>
            <a:r>
              <a:t>• Multi-currency FX corridors (EUR, GBP, SGD)</a:t>
            </a:r>
            <a:br/>
            <a:r>
              <a:t>• Automated EDPMS/IDPMS filing desk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371600"/>
            <a:ext cx="3474720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0020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D72"/>
                </a:solidFill>
              </a:defRPr>
            </a:pPr>
            <a:r>
              <a:t>Phase 3: Institutional Scale</a:t>
            </a:r>
          </a:p>
          <a:p>
            <a:pPr>
              <a:spcBef>
                <a:spcPts val="300"/>
              </a:spcBef>
              <a:defRPr sz="1100" b="1">
                <a:solidFill>
                  <a:srgbClr val="056DAE"/>
                </a:solidFill>
              </a:defRPr>
            </a:pPr>
            <a:r>
              <a:t>Q3 2027 &amp; Beyond</a:t>
            </a:r>
          </a:p>
          <a:p>
            <a:pPr>
              <a:spcBef>
                <a:spcPts val="1000"/>
              </a:spcBef>
              <a:defRPr sz="1100">
                <a:solidFill>
                  <a:srgbClr val="212529"/>
                </a:solidFill>
              </a:defRPr>
            </a:pPr>
            <a:r>
              <a:t>• Secondary RWA bill of lading discounting</a:t>
            </a:r>
            <a:br/>
            <a:r>
              <a:t>• Integration with global port terminal operators</a:t>
            </a:r>
            <a:br/>
            <a:r>
              <a:t>• Decentralized Identity (DID) for instant KYC</a:t>
            </a:r>
            <a:br/>
            <a:r>
              <a:t>• Automated marine cargo insurance payouts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29200"/>
            <a:ext cx="10728655" cy="1188720"/>
          </a:xfrm>
          <a:prstGeom prst="roundRect">
            <a:avLst/>
          </a:prstGeom>
          <a:solidFill>
            <a:srgbClr val="002D72"/>
          </a:solidFill>
          <a:ln w="15240">
            <a:solidFill>
              <a:srgbClr val="002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16636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FFFF"/>
                </a:solidFill>
              </a:defRPr>
            </a:pPr>
            <a:r>
              <a:t>CitiFlow Escrow: Transforming static paper commerce into programmable real-time Delivery vs. Payment.</a:t>
            </a:r>
          </a:p>
          <a:p>
            <a:pPr>
              <a:spcBef>
                <a:spcPts val="400"/>
              </a:spcBef>
              <a:defRPr sz="1100">
                <a:solidFill>
                  <a:srgbClr val="B4D7F5"/>
                </a:solidFill>
              </a:defRPr>
            </a:pPr>
            <a:r>
              <a:t>Built for the Drunix Hackathon 2026 | Citi Treasury and Trade Solutions × India Blockchain Forum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